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1" r:id="rId6"/>
    <p:sldId id="262" r:id="rId7"/>
    <p:sldId id="268" r:id="rId8"/>
    <p:sldId id="263" r:id="rId9"/>
    <p:sldId id="264" r:id="rId10"/>
    <p:sldId id="265" r:id="rId11"/>
    <p:sldId id="267" r:id="rId12"/>
    <p:sldId id="269" r:id="rId13"/>
    <p:sldId id="266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EC1563-C2B2-4F3A-A938-30F8C244FF37}" type="datetimeFigureOut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9E6AA7-61E9-44D1-8301-473EAFABDC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399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B245BD-658F-76D5-59C7-5A8BE1FABB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8FF7A02-D09F-3B1F-7EFD-4629AA5E00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9DCEA99-10F5-EA65-3684-CB349BC73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C3243-56F5-416A-AB9D-BEDB1DB13CD6}" type="datetime1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1F47E0E-BA97-B951-1A05-97970F38B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70194A1-B7A8-2ABD-CFE0-FD1FC691A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B3D2-A88D-4947-AE11-6DEE5A0E65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592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776745-E33B-0877-494A-6232C138D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5BF910-4A5F-77F0-6720-A0020D899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630A185-CE5A-8B9F-B4E0-06B1DDFA3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54583-4E87-4168-AA82-79EB531968B0}" type="datetime1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FEA80BE-4F81-55AC-37DC-CA7BE8318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161A6B7-CF81-B5F7-9FF2-C7A76949E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B3D2-A88D-4947-AE11-6DEE5A0E65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6033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C1731C-ED6C-F3B1-A415-3E960CD41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9D22DD1-0323-1838-D96D-97487F1D4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524A22A-7098-FB8D-C12F-B37E2C270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D93F9-F978-4AF9-A7D2-F945C2D8E04D}" type="datetime1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8497B5-3E0F-2407-666D-58A58CF84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05414AF-48D7-A9D9-3CC7-6DF037ABE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B3D2-A88D-4947-AE11-6DEE5A0E65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6955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DAF7B7-1E44-632F-7104-591388AD7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6679F9-71F8-F29F-6C51-B8AE55E875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2E3D161-70D7-00F5-9CE8-B5A579B485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DB13EB5-FB39-E7DC-1644-78AE07AA1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454DF-2AA7-42D4-BEB0-B32DFA328F60}" type="datetime1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23B777E-518D-0A45-8B69-19EF46A25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73B8C78-9BB8-4946-C033-4822DD8C7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B3D2-A88D-4947-AE11-6DEE5A0E65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8194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3309F3-3D6A-7E24-FB7A-C0B713684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EB0AF6F-34A1-54B4-CC1C-F019DE0B7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132C851-E3E0-78AB-CE3B-1403470E7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BD2C501-72FE-37C9-4E2D-735133DD5B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81836AC-19B1-17BD-577A-F462768244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1FB104F-A05E-450A-4025-2D49F4D98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FEDDF-5933-4EEC-A145-D368BA76C96B}" type="datetime1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C999929-3ECC-4DD6-E355-1A36F0792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469A1E0-15EE-72BC-9ACD-84E4741D4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B3D2-A88D-4947-AE11-6DEE5A0E65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1734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10311D-D5F0-F7F0-5C08-96E8B9DE1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87A0FF2-AE88-8165-E8A5-D389E0F1A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55D3D-3D3E-4453-A68F-1A0AB6FAA6C9}" type="datetime1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6DAE384-5A52-C3F7-7EDD-9F36C7670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61D00EB-9782-8139-981E-0AABEB5FD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B3D2-A88D-4947-AE11-6DEE5A0E65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8912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A963115-12F8-529A-70B2-AD1281796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8BFB4-B01F-43F4-A4D1-1E4402511756}" type="datetime1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4E81DDC-294F-9D37-FEFD-93639F069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71E1371-9494-C04C-1DA2-4E40D9B80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B3D2-A88D-4947-AE11-6DEE5A0E65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0416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3F5072-5E64-6BA5-6CBB-60E04E10E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1ECA5F-AB31-9CE5-5DDC-A10875D8E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AB124AB-AD2B-F7F4-82BB-218432C83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3FC7EF2-FF00-65E0-2644-C7BC8785C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B18CB-9607-4416-AF5D-C6AEFEF64624}" type="datetime1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070C974-132B-500B-4733-536624BA8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C28E112-0F9A-9DF2-759E-A7FB459C5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B3D2-A88D-4947-AE11-6DEE5A0E65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2279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03F20F-19E6-F7EB-CE42-B1ED3B4E4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46CD94B-F0AC-A4E7-1CF9-0449A21E7C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9539170-E526-BBB5-0312-784494E09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0A6C667-0348-8317-62BA-7DD775BA4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9A7CC-6CBE-44FA-8270-0FF85253857C}" type="datetime1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01E0B72-2144-CC25-0D32-CE4D9A5F0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04FCD2F-8264-DA74-81F6-C828F3A76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B3D2-A88D-4947-AE11-6DEE5A0E65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8197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8EF43F-4D6C-D409-731A-10CF24773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3FB419B-C6AB-BE2E-1382-B80C512717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A966E43-B81D-CE00-7448-602C89AD6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A4C2D-F95C-4AC9-9D73-079C91FA97F5}" type="datetime1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C91889-76DE-DA0F-5053-5AFC18C10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FEDA52E-733E-0D4F-F5CD-02126E473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B3D2-A88D-4947-AE11-6DEE5A0E65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3084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6488554-985E-5C58-3598-50F8CC2845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1453677-74B4-0542-DE32-2B71123BD1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F409CA9-C2F8-ACAC-5D45-0822076D7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E1E21-9FAA-4D79-9974-16B8777277DA}" type="datetime1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34EDE9E-E26F-02FF-F9A1-3232D8A4A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CEDCD38-65DC-5D5D-8E64-48801E48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B3D2-A88D-4947-AE11-6DEE5A0E65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9481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D1A3F56-5A7E-0E6C-8D10-6E162F141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CA6EF6E-2F7E-CC96-A630-B0D72EAB55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5151CE5-7D90-295A-B4C0-523FF9D7CC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2FF3C0-6389-4A83-9379-6A5E4C81FA40}" type="datetime1">
              <a:rPr lang="zh-TW" altLang="en-US" smtClean="0"/>
              <a:t>2026/7/5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5D8F147-F0B2-2CE7-2AB2-574E9F41F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62AFE39-C7BF-0266-D62E-5FD0B4DF44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D6B3D2-A88D-4947-AE11-6DEE5A0E654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8538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unsloth/gemma-4-E2B-it-GGUF" TargetMode="External"/><Relationship Id="rId2" Type="http://schemas.openxmlformats.org/officeDocument/2006/relationships/hyperlink" Target="https://github.com/openclaw/openclaw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searxng.org/admin/installation-docker.html#compose-instancing" TargetMode="External"/><Relationship Id="rId4" Type="http://schemas.openxmlformats.org/officeDocument/2006/relationships/hyperlink" Target="https://huggingface.co/unsloth/gemma-4-E2B-it-GGUF/blob/main/MTP/README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7229D-1428-7113-0BC9-2B565B3671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zh-TW" dirty="0"/>
              <a:t>OpenClaw + Gemma 4 (Local on GTX 1050 Ti)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AB0577C-C155-EDF3-D3F2-623112D446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Melody Wang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72765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E56C60-17E5-D98E-0224-975AE2095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E94A1295-7050-B45B-7AD7-E0A0965F9B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19" b="10124"/>
          <a:stretch>
            <a:fillRect/>
          </a:stretch>
        </p:blipFill>
        <p:spPr>
          <a:xfrm>
            <a:off x="1778967" y="0"/>
            <a:ext cx="4145279" cy="6858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FEC308F-E359-8766-32EE-E47AF3214E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597"/>
          <a:stretch>
            <a:fillRect/>
          </a:stretch>
        </p:blipFill>
        <p:spPr>
          <a:xfrm>
            <a:off x="6267755" y="1784142"/>
            <a:ext cx="4147200" cy="4708733"/>
          </a:xfrm>
          <a:prstGeom prst="rect">
            <a:avLst/>
          </a:prstGeom>
        </p:spPr>
      </p:pic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42CDEA7A-FEAD-763F-7B3E-5ECA9F3BD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B3D2-A88D-4947-AE11-6DEE5A0E6548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6695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B73535-1342-8A4E-75C3-9F592B370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Architecture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3E00F4B-8D10-8C2B-0B1C-8212ED0C9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62" y="1953419"/>
            <a:ext cx="11953875" cy="4095750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F70B6E7-D317-D485-B92B-2A799386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B3D2-A88D-4947-AE11-6DEE5A0E6548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7681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216195-59D0-33F8-F608-CE7AFB301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Device Info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F3D1DF-E298-364B-1064-3727CFF6C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Windows WSL, Ubuntu 22.04</a:t>
            </a:r>
          </a:p>
          <a:p>
            <a:r>
              <a:rPr lang="en-US" altLang="zh-TW" dirty="0"/>
              <a:t>CPU: Intel(R) Core(TM) i5-8400 CPU @ 2.80GHz, 6 cores</a:t>
            </a:r>
          </a:p>
          <a:p>
            <a:r>
              <a:rPr lang="en-US" altLang="zh-TW" dirty="0"/>
              <a:t>RAM: 24 GB, 22GB for WSL</a:t>
            </a:r>
          </a:p>
          <a:p>
            <a:r>
              <a:rPr lang="en-US" altLang="zh-TW" dirty="0"/>
              <a:t>GPU: NVIDIA GeForce GTX 1050 Ti, 4GB VRAM</a:t>
            </a:r>
          </a:p>
          <a:p>
            <a:r>
              <a:rPr lang="en-US" altLang="zh-TW" dirty="0"/>
              <a:t>CUDA 12.6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71B1B6-3D5F-8EF9-5EAC-8D09930B5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B3D2-A88D-4947-AE11-6DEE5A0E6548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5770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8203BD-7DAD-6980-9C0F-8C69F50B7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Preparations - Environment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247FA02-9C88-1533-5CF6-4046A3755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zh-TW" altLang="zh-TW" b="1" dirty="0"/>
              <a:t>Windows and WSL</a:t>
            </a:r>
          </a:p>
          <a:p>
            <a:r>
              <a:rPr lang="zh-TW" altLang="zh-TW" dirty="0"/>
              <a:t>GPU driver on windows</a:t>
            </a:r>
          </a:p>
          <a:p>
            <a:r>
              <a:rPr lang="zh-TW" altLang="zh-TW" dirty="0"/>
              <a:t>Docker on WSL</a:t>
            </a:r>
          </a:p>
          <a:p>
            <a:r>
              <a:rPr lang="zh-TW" altLang="zh-TW" dirty="0"/>
              <a:t>WSL settings (firewall and memory)</a:t>
            </a:r>
            <a:endParaRPr lang="en-US" altLang="zh-TW" dirty="0"/>
          </a:p>
          <a:p>
            <a:r>
              <a:rPr lang="zh-TW" altLang="zh-TW" dirty="0"/>
              <a:t>Python uv on WSL</a:t>
            </a:r>
          </a:p>
          <a:p>
            <a:pPr marL="0" indent="0">
              <a:buNone/>
            </a:pPr>
            <a:endParaRPr lang="en-US" altLang="zh-TW" b="1" dirty="0"/>
          </a:p>
          <a:p>
            <a:pPr marL="0" indent="0">
              <a:buNone/>
            </a:pPr>
            <a:r>
              <a:rPr lang="zh-TW" altLang="zh-TW" b="1" dirty="0"/>
              <a:t>GPU for WSL (Optional, if LLM is run on WSL)</a:t>
            </a:r>
          </a:p>
          <a:p>
            <a:r>
              <a:rPr lang="zh-TW" altLang="zh-TW" dirty="0"/>
              <a:t>GPU driver on WSL</a:t>
            </a:r>
          </a:p>
          <a:p>
            <a:r>
              <a:rPr lang="zh-TW" altLang="zh-TW" dirty="0"/>
              <a:t>Cuda on WSL</a:t>
            </a:r>
          </a:p>
          <a:p>
            <a:r>
              <a:rPr lang="zh-TW" altLang="zh-TW" dirty="0"/>
              <a:t>NVIDIA Container Toolkit on WSL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9FFCBD-0517-CD7B-E05C-4C5A305E0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B3D2-A88D-4947-AE11-6DEE5A0E6548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6732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2C304E-0BB7-D02C-627D-17045D827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Preparations - LLM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0B9328B-E20B-DB06-DA4E-499A15720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TW" altLang="zh-TW" dirty="0"/>
              <a:t>Download and build llama.cpp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zh-TW" dirty="0"/>
              <a:t>Download LLM Gemma4 E2B</a:t>
            </a:r>
            <a:r>
              <a:rPr lang="en-US" altLang="zh-TW" dirty="0"/>
              <a:t> (</a:t>
            </a:r>
            <a:r>
              <a:rPr lang="zh-TW" altLang="zh-TW" dirty="0"/>
              <a:t>Why Gemma 4? More on this later.</a:t>
            </a:r>
            <a:r>
              <a:rPr lang="en-US" altLang="zh-TW" dirty="0"/>
              <a:t>)</a:t>
            </a:r>
            <a:endParaRPr lang="zh-TW" altLang="zh-TW" dirty="0"/>
          </a:p>
          <a:p>
            <a:pPr marL="514350" indent="-514350">
              <a:buFont typeface="+mj-lt"/>
              <a:buAutoNum type="arabicPeriod"/>
            </a:pPr>
            <a:r>
              <a:rPr lang="zh-TW" altLang="zh-TW" dirty="0"/>
              <a:t>Run LLM by llama.cpp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F5E847B-2864-9B06-9467-7ACD85C42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B3D2-A88D-4947-AE11-6DEE5A0E6548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0938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4A619D-F466-0212-BBA7-2258F9CFE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Preparations - </a:t>
            </a:r>
            <a:r>
              <a:rPr lang="en-US" altLang="zh-TW" dirty="0" err="1"/>
              <a:t>SearXNG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61BD73D-818F-F6F9-784F-C7DA69D69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zh-TW" altLang="zh-TW" dirty="0"/>
              <a:t>Download docker compose file and </a:t>
            </a:r>
            <a:r>
              <a:rPr lang="en-US" altLang="zh-TW" dirty="0"/>
              <a:t>example </a:t>
            </a:r>
            <a:r>
              <a:rPr lang="zh-TW" altLang="zh-TW" dirty="0"/>
              <a:t>.env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zh-TW" dirty="0"/>
              <a:t>edit .env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zh-TW" dirty="0"/>
              <a:t>start the service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Why </a:t>
            </a:r>
            <a:r>
              <a:rPr lang="en-US" altLang="zh-TW" dirty="0" err="1"/>
              <a:t>SearXNG</a:t>
            </a:r>
            <a:r>
              <a:rPr lang="en-US" altLang="zh-TW" dirty="0"/>
              <a:t>? Original using </a:t>
            </a:r>
            <a:r>
              <a:rPr lang="en-US" altLang="zh-TW" dirty="0" err="1"/>
              <a:t>duckduckgo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Ideal: user request -&gt; Agent -&gt; web search -&gt; titles and URLs -&gt; web fetch specific URL -&gt; response</a:t>
            </a:r>
          </a:p>
          <a:p>
            <a:pPr marL="0" indent="0">
              <a:buNone/>
            </a:pPr>
            <a:r>
              <a:rPr lang="en-US" altLang="zh-TW" dirty="0"/>
              <a:t>Truth: user request -&gt; Agent -&gt; web search -&gt; response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zh-TW" altLang="zh-TW" dirty="0"/>
              <a:t>When the </a:t>
            </a:r>
            <a:r>
              <a:rPr lang="en-US" altLang="zh-TW" dirty="0"/>
              <a:t>Agent(</a:t>
            </a:r>
            <a:r>
              <a:rPr lang="zh-TW" altLang="zh-TW" dirty="0"/>
              <a:t>LLM</a:t>
            </a:r>
            <a:r>
              <a:rPr lang="en-US" altLang="zh-TW"/>
              <a:t>)</a:t>
            </a:r>
            <a:r>
              <a:rPr lang="zh-TW" altLang="zh-TW"/>
              <a:t> </a:t>
            </a:r>
            <a:r>
              <a:rPr lang="zh-TW" altLang="zh-TW" dirty="0"/>
              <a:t>falls short, better tools matter more.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F676802-DDB7-F56C-2B19-1948E7598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B3D2-A88D-4947-AE11-6DEE5A0E6548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5038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DBB991-6FCE-759A-4B43-43CF64ADB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Preparations - </a:t>
            </a:r>
            <a:r>
              <a:rPr lang="zh-TW" altLang="zh-TW" dirty="0"/>
              <a:t>Discord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61E399D-5BC6-DE64-7662-25F7A7570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TW" altLang="zh-TW" dirty="0"/>
              <a:t>Go to Discord Developer Portal, create </a:t>
            </a:r>
            <a:r>
              <a:rPr lang="en-US" altLang="zh-TW" dirty="0"/>
              <a:t>b</a:t>
            </a:r>
            <a:r>
              <a:rPr lang="zh-TW" altLang="zh-TW" dirty="0"/>
              <a:t>ot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zh-TW" dirty="0"/>
              <a:t>Copy </a:t>
            </a:r>
            <a:r>
              <a:rPr lang="en-US" altLang="zh-TW" dirty="0"/>
              <a:t>b</a:t>
            </a:r>
            <a:r>
              <a:rPr lang="zh-TW" altLang="zh-TW" dirty="0"/>
              <a:t>ot </a:t>
            </a:r>
            <a:r>
              <a:rPr lang="en-US" altLang="zh-TW" dirty="0"/>
              <a:t>t</a:t>
            </a:r>
            <a:r>
              <a:rPr lang="zh-TW" altLang="zh-TW" dirty="0"/>
              <a:t>oken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Add bot into Discord server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4A99B84-91F9-5F4F-3BCD-700B9C59F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B3D2-A88D-4947-AE11-6DEE5A0E6548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3168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7D79A2-D359-5548-CE6C-3C3434B1E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OpenClaw </a:t>
            </a:r>
            <a:r>
              <a:rPr lang="en-US" altLang="zh-TW" dirty="0"/>
              <a:t>S</a:t>
            </a:r>
            <a:r>
              <a:rPr lang="zh-TW" altLang="zh-TW" dirty="0"/>
              <a:t>etup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431B72-BB38-456F-A72B-40B04C34A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Clone </a:t>
            </a:r>
            <a:r>
              <a:rPr lang="en-US" altLang="zh-TW" dirty="0" err="1"/>
              <a:t>github</a:t>
            </a:r>
            <a:r>
              <a:rPr lang="en-US" altLang="zh-TW" dirty="0"/>
              <a:t> repo</a:t>
            </a:r>
          </a:p>
          <a:p>
            <a:r>
              <a:rPr lang="en-US" altLang="zh-TW" dirty="0"/>
              <a:t>Setup </a:t>
            </a:r>
            <a:r>
              <a:rPr lang="en-US" altLang="zh-TW" dirty="0" err="1"/>
              <a:t>openclaw</a:t>
            </a:r>
            <a:r>
              <a:rPr lang="en-US" altLang="zh-TW" dirty="0"/>
              <a:t> by script</a:t>
            </a:r>
          </a:p>
          <a:p>
            <a:r>
              <a:rPr lang="en-US" altLang="zh-TW" dirty="0"/>
              <a:t>Setup </a:t>
            </a:r>
            <a:r>
              <a:rPr lang="en-US" altLang="zh-TW" dirty="0" err="1"/>
              <a:t>SearXNG</a:t>
            </a:r>
            <a:endParaRPr lang="zh-TW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B40BBC2-C74B-6B2E-6025-D0509EE01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B3D2-A88D-4947-AE11-6DEE5A0E6548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7F4AEAC-C69A-86C5-44D4-6AD5CE8133C9}"/>
              </a:ext>
            </a:extLst>
          </p:cNvPr>
          <p:cNvSpPr txBox="1"/>
          <p:nvPr/>
        </p:nvSpPr>
        <p:spPr>
          <a:xfrm>
            <a:off x="1054837" y="3527492"/>
            <a:ext cx="9811637" cy="271991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zh-TW" altLang="zh-TW" sz="2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zh-TW" altLang="zh-TW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exec</a:t>
            </a:r>
            <a:r>
              <a:rPr lang="zh-TW" altLang="zh-TW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-it</a:t>
            </a:r>
            <a:r>
              <a:rPr lang="zh-TW" altLang="zh-TW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openclaw-openclaw-gateway-1</a:t>
            </a:r>
            <a:r>
              <a:rPr lang="zh-TW" altLang="zh-TW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bash</a:t>
            </a:r>
            <a:endParaRPr lang="zh-TW" altLang="zh-TW" sz="2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br>
              <a:rPr lang="zh-TW" altLang="zh-TW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zh-TW" altLang="zh-TW" sz="2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zh-TW" altLang="zh-TW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zh-TW" altLang="zh-TW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2000" b="0" dirty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SEARXNG_BASE_URL</a:t>
            </a:r>
            <a:r>
              <a:rPr lang="zh-TW" altLang="zh-TW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zh-TW" altLang="zh-TW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"http://&lt;your self-hosted SearXNG IP&gt;:&lt;port&gt;"</a:t>
            </a:r>
            <a:endParaRPr lang="zh-TW" altLang="zh-TW" sz="2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zh-TW" altLang="zh-TW" sz="2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openclaw</a:t>
            </a:r>
            <a:r>
              <a:rPr lang="zh-TW" altLang="zh-TW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configure</a:t>
            </a:r>
            <a:r>
              <a:rPr lang="zh-TW" altLang="zh-TW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20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--section</a:t>
            </a:r>
            <a:r>
              <a:rPr lang="zh-TW" altLang="zh-TW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web</a:t>
            </a:r>
            <a:endParaRPr lang="zh-TW" altLang="zh-TW" sz="2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zh-TW" altLang="zh-TW" sz="2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openclaw</a:t>
            </a:r>
            <a:r>
              <a:rPr lang="zh-TW" altLang="zh-TW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plugins</a:t>
            </a:r>
            <a:r>
              <a:rPr lang="zh-TW" altLang="zh-TW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install</a:t>
            </a:r>
            <a:r>
              <a:rPr lang="zh-TW" altLang="zh-TW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@openclaw/searxng-plugin</a:t>
            </a:r>
            <a:endParaRPr lang="zh-TW" altLang="zh-TW" sz="2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zh-TW" altLang="zh-TW" sz="2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openclaw</a:t>
            </a:r>
            <a:r>
              <a:rPr lang="zh-TW" altLang="zh-TW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plugins</a:t>
            </a:r>
            <a:r>
              <a:rPr lang="zh-TW" altLang="zh-TW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zh-TW" altLang="zh-TW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2000" b="0" dirty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# check if searxng in list</a:t>
            </a:r>
            <a:endParaRPr lang="zh-TW" altLang="zh-TW" sz="2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zh-TW" altLang="zh-TW" sz="20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exit</a:t>
            </a:r>
            <a:endParaRPr lang="zh-TW" altLang="zh-TW" sz="2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br>
              <a:rPr lang="zh-TW" altLang="zh-TW" sz="20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zh-TW" altLang="zh-TW" sz="2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zh-TW" altLang="zh-TW" sz="2000" b="0" dirty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docker</a:t>
            </a:r>
            <a:r>
              <a:rPr lang="zh-TW" altLang="zh-TW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compose</a:t>
            </a:r>
            <a:r>
              <a:rPr lang="zh-TW" altLang="zh-TW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zh-TW" altLang="zh-TW" sz="20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restart</a:t>
            </a:r>
            <a:endParaRPr lang="zh-TW" altLang="zh-TW" sz="20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0556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FEC5C0-26EF-C84D-C11A-F83DC1AF6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OpenClaw Connect to Discord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3049283-F5FD-77CE-F60E-A61D59578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Turn on Developer Mode</a:t>
            </a:r>
          </a:p>
          <a:p>
            <a:r>
              <a:rPr lang="zh-TW" altLang="zh-TW" dirty="0"/>
              <a:t>Check Discord server Id</a:t>
            </a:r>
          </a:p>
          <a:p>
            <a:r>
              <a:rPr lang="zh-TW" altLang="zh-TW" dirty="0"/>
              <a:t>Edit ~/.openclaw/openclaw.json</a:t>
            </a:r>
          </a:p>
          <a:p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6F0345-F956-BF55-F1A0-DE36A74D7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B3D2-A88D-4947-AE11-6DEE5A0E6548}" type="slidenum">
              <a:rPr lang="zh-TW" altLang="en-US" smtClean="0"/>
              <a:t>10</a:t>
            </a:fld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0972BF8-0490-00E7-0C79-81009469F441}"/>
              </a:ext>
            </a:extLst>
          </p:cNvPr>
          <p:cNvSpPr txBox="1"/>
          <p:nvPr/>
        </p:nvSpPr>
        <p:spPr>
          <a:xfrm>
            <a:off x="1517798" y="3375948"/>
            <a:ext cx="8304914" cy="3367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r>
              <a:rPr lang="zh-TW" altLang="zh-TW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  <a:endParaRPr lang="zh-TW" altLang="zh-TW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zh-TW" altLang="zh-TW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zh-TW" altLang="zh-TW" sz="18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"channels"</a:t>
            </a:r>
            <a:r>
              <a:rPr lang="zh-TW" altLang="zh-TW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{</a:t>
            </a:r>
            <a:endParaRPr lang="zh-TW" altLang="zh-TW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zh-TW" altLang="zh-TW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zh-TW" altLang="zh-TW" sz="18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"discord"</a:t>
            </a:r>
            <a:r>
              <a:rPr lang="zh-TW" altLang="zh-TW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{</a:t>
            </a:r>
            <a:endParaRPr lang="zh-TW" altLang="zh-TW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zh-TW" altLang="zh-TW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zh-TW" altLang="zh-TW" sz="18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"enabled"</a:t>
            </a:r>
            <a:r>
              <a:rPr lang="zh-TW" altLang="zh-TW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zh-TW" altLang="zh-TW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zh-TW" altLang="zh-TW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endParaRPr lang="zh-TW" altLang="zh-TW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zh-TW" altLang="zh-TW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zh-TW" altLang="zh-TW" sz="18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"token"</a:t>
            </a:r>
            <a:r>
              <a:rPr lang="zh-TW" altLang="zh-TW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zh-TW" altLang="zh-TW" sz="18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"&lt;discord token&gt;"</a:t>
            </a:r>
            <a:r>
              <a:rPr lang="zh-TW" altLang="zh-TW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endParaRPr lang="zh-TW" altLang="zh-TW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zh-TW" altLang="zh-TW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zh-TW" altLang="zh-TW" sz="18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"groupPolicy"</a:t>
            </a:r>
            <a:r>
              <a:rPr lang="zh-TW" altLang="zh-TW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zh-TW" altLang="zh-TW" sz="18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"allowlist"</a:t>
            </a:r>
            <a:r>
              <a:rPr lang="zh-TW" altLang="zh-TW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endParaRPr lang="zh-TW" altLang="zh-TW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zh-TW" altLang="zh-TW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zh-TW" altLang="zh-TW" sz="18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"guilds"</a:t>
            </a:r>
            <a:r>
              <a:rPr lang="zh-TW" altLang="zh-TW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{</a:t>
            </a:r>
            <a:endParaRPr lang="zh-TW" altLang="zh-TW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zh-TW" altLang="zh-TW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zh-TW" altLang="zh-TW" sz="18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"&lt;discord server id&gt;"</a:t>
            </a:r>
            <a:r>
              <a:rPr lang="zh-TW" altLang="zh-TW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{</a:t>
            </a:r>
            <a:endParaRPr lang="zh-TW" altLang="zh-TW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zh-TW" altLang="zh-TW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zh-TW" altLang="zh-TW" sz="18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"requireMention"</a:t>
            </a:r>
            <a:r>
              <a:rPr lang="zh-TW" altLang="zh-TW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zh-TW" altLang="zh-TW" sz="1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zh-TW" altLang="zh-TW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endParaRPr lang="zh-TW" altLang="zh-TW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zh-TW" altLang="zh-TW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zh-TW" altLang="zh-TW" sz="1800" b="0" dirty="0">
                <a:solidFill>
                  <a:srgbClr val="7EE787"/>
                </a:solidFill>
                <a:effectLst/>
                <a:latin typeface="Consolas" panose="020B0609020204030204" pitchFamily="49" charset="0"/>
              </a:rPr>
              <a:t>"slug"</a:t>
            </a:r>
            <a:r>
              <a:rPr lang="zh-TW" altLang="zh-TW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zh-TW" altLang="zh-TW" sz="18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"my-server"</a:t>
            </a:r>
            <a:endParaRPr lang="zh-TW" altLang="zh-TW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zh-TW" altLang="zh-TW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}</a:t>
            </a:r>
            <a:endParaRPr lang="zh-TW" altLang="zh-TW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zh-TW" altLang="zh-TW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}</a:t>
            </a:r>
            <a:endParaRPr lang="zh-TW" altLang="zh-TW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zh-TW" altLang="zh-TW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zh-TW" altLang="zh-TW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zh-TW" altLang="zh-TW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}</a:t>
            </a:r>
            <a:endParaRPr lang="zh-TW" altLang="zh-TW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650"/>
              </a:lnSpc>
              <a:buNone/>
            </a:pPr>
            <a:r>
              <a:rPr lang="zh-TW" altLang="zh-TW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  <a:endParaRPr lang="zh-TW" altLang="zh-TW" sz="18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94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A66B7A-C092-A1B5-808B-5B6203888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LLM Parameters and Comparison</a:t>
            </a:r>
            <a:endParaRPr lang="zh-TW" altLang="en-US" dirty="0"/>
          </a:p>
        </p:txBody>
      </p:sp>
      <p:graphicFrame>
        <p:nvGraphicFramePr>
          <p:cNvPr id="6" name="內容版面配置區 5">
            <a:extLst>
              <a:ext uri="{FF2B5EF4-FFF2-40B4-BE49-F238E27FC236}">
                <a16:creationId xmlns:a16="http://schemas.microsoft.com/office/drawing/2014/main" id="{5B840070-AFF2-D9E7-8D4D-F1736A636F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9719583"/>
              </p:ext>
            </p:extLst>
          </p:nvPr>
        </p:nvGraphicFramePr>
        <p:xfrm>
          <a:off x="152400" y="1315262"/>
          <a:ext cx="11887199" cy="5425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7249">
                  <a:extLst>
                    <a:ext uri="{9D8B030D-6E8A-4147-A177-3AD203B41FA5}">
                      <a16:colId xmlns:a16="http://schemas.microsoft.com/office/drawing/2014/main" val="2562018570"/>
                    </a:ext>
                  </a:extLst>
                </a:gridCol>
                <a:gridCol w="2080303">
                  <a:extLst>
                    <a:ext uri="{9D8B030D-6E8A-4147-A177-3AD203B41FA5}">
                      <a16:colId xmlns:a16="http://schemas.microsoft.com/office/drawing/2014/main" val="2518033162"/>
                    </a:ext>
                  </a:extLst>
                </a:gridCol>
                <a:gridCol w="1918609">
                  <a:extLst>
                    <a:ext uri="{9D8B030D-6E8A-4147-A177-3AD203B41FA5}">
                      <a16:colId xmlns:a16="http://schemas.microsoft.com/office/drawing/2014/main" val="2197553569"/>
                    </a:ext>
                  </a:extLst>
                </a:gridCol>
                <a:gridCol w="5291038">
                  <a:extLst>
                    <a:ext uri="{9D8B030D-6E8A-4147-A177-3AD203B41FA5}">
                      <a16:colId xmlns:a16="http://schemas.microsoft.com/office/drawing/2014/main" val="7421095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Model</a:t>
                      </a:r>
                      <a:endParaRPr lang="zh-TW" alt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Quantization</a:t>
                      </a:r>
                      <a:endParaRPr lang="zh-TW" alt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KV cache</a:t>
                      </a:r>
                      <a:endParaRPr lang="zh-TW" alt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Result</a:t>
                      </a:r>
                      <a:endParaRPr lang="zh-TW" alt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20383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altLang="zh-TW" sz="2200" dirty="0"/>
                        <a:t>Qwen 3.6 35B A3B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Q1</a:t>
                      </a:r>
                      <a:endParaRPr lang="zh-TW" alt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f16</a:t>
                      </a:r>
                      <a:endParaRPr lang="zh-TW" alt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Reply slowly</a:t>
                      </a:r>
                      <a:endParaRPr lang="zh-TW" alt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27204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Q4</a:t>
                      </a:r>
                      <a:endParaRPr lang="zh-TW" alt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f16</a:t>
                      </a:r>
                      <a:endParaRPr lang="zh-TW" alt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dirty="0"/>
                        <a:t>Reply slowly</a:t>
                      </a:r>
                      <a:endParaRPr lang="zh-TW" alt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495599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altLang="zh-TW" sz="2200" dirty="0"/>
                        <a:t>Gemma4 E2B</a:t>
                      </a:r>
                      <a:endParaRPr lang="zh-TW" alt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Q4</a:t>
                      </a:r>
                      <a:endParaRPr lang="zh-TW" alt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q8_0</a:t>
                      </a:r>
                      <a:endParaRPr lang="zh-TW" alt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Answer quality is low</a:t>
                      </a:r>
                      <a:endParaRPr lang="zh-TW" alt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14958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Q4</a:t>
                      </a:r>
                      <a:endParaRPr lang="zh-TW" alt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f16</a:t>
                      </a:r>
                      <a:endParaRPr lang="zh-TW" alt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Correctly handle request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22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6.48 t/s </a:t>
                      </a:r>
                      <a:endParaRPr lang="en-US" altLang="zh-TW" sz="22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2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TW" sz="2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pure chat test on llama.cpp: </a:t>
                      </a:r>
                      <a:r>
                        <a:rPr lang="zh-TW" altLang="zh-TW" sz="2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ask hello, 2. introduce algorithm)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6272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dirty="0"/>
                        <a:t>Gemma4 E2B</a:t>
                      </a:r>
                      <a:r>
                        <a:rPr lang="zh-TW" altLang="en-US" sz="2200" dirty="0"/>
                        <a:t> </a:t>
                      </a:r>
                      <a:r>
                        <a:rPr lang="en-US" altLang="zh-TW" sz="2200" dirty="0"/>
                        <a:t>MTP</a:t>
                      </a:r>
                      <a:endParaRPr lang="zh-TW" alt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Q4</a:t>
                      </a:r>
                      <a:endParaRPr lang="zh-TW" alt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dirty="0"/>
                        <a:t>f16</a:t>
                      </a:r>
                      <a:endParaRPr lang="zh-TW" alt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Correctly handle request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22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16.93 t/s </a:t>
                      </a:r>
                      <a:endParaRPr lang="en-US" altLang="zh-TW" sz="22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2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zh-TW" sz="2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pure chat test on llama.cpp: </a:t>
                      </a:r>
                      <a:r>
                        <a:rPr lang="zh-TW" altLang="zh-TW" sz="22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ask hello, 2. introduce algorithm)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0113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Gemma4 E4B QAT</a:t>
                      </a:r>
                      <a:endParaRPr lang="zh-TW" alt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Q2</a:t>
                      </a:r>
                      <a:endParaRPr lang="zh-TW" alt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dirty="0"/>
                        <a:t>f16</a:t>
                      </a:r>
                      <a:endParaRPr lang="zh-TW" alt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Incorrect response when hello</a:t>
                      </a:r>
                      <a:endParaRPr lang="zh-TW" alt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0769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Qwen 3.5 2B</a:t>
                      </a:r>
                      <a:endParaRPr lang="zh-TW" alt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BF16</a:t>
                      </a:r>
                      <a:endParaRPr lang="zh-TW" alt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dirty="0"/>
                        <a:t>f16</a:t>
                      </a:r>
                      <a:endParaRPr lang="zh-TW" alt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200" dirty="0"/>
                        <a:t>Failed to call web search tool</a:t>
                      </a:r>
                      <a:endParaRPr lang="zh-TW" altLang="en-US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94294"/>
                  </a:ext>
                </a:extLst>
              </a:tr>
            </a:tbl>
          </a:graphicData>
        </a:graphic>
      </p:graphicFrame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EF1475B-8F2B-CA5F-4B75-5252EA669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B3D2-A88D-4947-AE11-6DEE5A0E6548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5144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747CA8-BA57-9782-3F13-3AF77FAE4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Summary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0A2F0F-AE95-710B-7296-A5CCE8409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With the same parameter scale, dense models perform better than MoE models in agent tasks.</a:t>
            </a:r>
            <a:endParaRPr lang="en-US" altLang="zh-TW" dirty="0"/>
          </a:p>
          <a:p>
            <a:r>
              <a:rPr lang="zh-TW" altLang="zh-TW" dirty="0"/>
              <a:t>KV cache precision affects agent performance; FP16 performs better than Q8_0 or Q4_0 quantization.</a:t>
            </a:r>
            <a:endParaRPr lang="en-US" altLang="zh-TW" dirty="0"/>
          </a:p>
          <a:p>
            <a:r>
              <a:rPr lang="zh-TW" altLang="zh-TW" dirty="0"/>
              <a:t>MTP models generate faster than non-MTP models. However, they only support one request at a time, making them suitable for single-user LLM scenarios.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2A52A4-F420-E361-C51F-6FA0EFDE2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B3D2-A88D-4947-AE11-6DEE5A0E6548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2416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34B8E5-381F-01C4-A515-09D17BCF4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References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A073B2-D884-07D0-EC56-507C2A95E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OpenClaw </a:t>
            </a:r>
            <a:r>
              <a:rPr lang="en-US" altLang="zh-TW" dirty="0" err="1">
                <a:hlinkClick r:id="rId2"/>
              </a:rPr>
              <a:t>github</a:t>
            </a:r>
            <a:r>
              <a:rPr lang="en-US" altLang="zh-TW" dirty="0">
                <a:hlinkClick r:id="rId2"/>
              </a:rPr>
              <a:t> repo</a:t>
            </a:r>
            <a:endParaRPr lang="en-US" altLang="zh-TW" dirty="0"/>
          </a:p>
          <a:p>
            <a:r>
              <a:rPr lang="en-US" altLang="zh-TW" u="sng" dirty="0" err="1">
                <a:hlinkClick r:id="rId3"/>
              </a:rPr>
              <a:t>huggingface</a:t>
            </a:r>
            <a:r>
              <a:rPr lang="en-US" altLang="zh-TW" u="sng" dirty="0">
                <a:hlinkClick r:id="rId3"/>
              </a:rPr>
              <a:t> </a:t>
            </a:r>
            <a:r>
              <a:rPr lang="en-US" altLang="zh-TW" u="sng" dirty="0" err="1">
                <a:hlinkClick r:id="rId3"/>
              </a:rPr>
              <a:t>unsloth</a:t>
            </a:r>
            <a:r>
              <a:rPr lang="en-US" altLang="zh-TW" u="sng" dirty="0">
                <a:hlinkClick r:id="rId3"/>
              </a:rPr>
              <a:t>/gemma-4-E2B-it-GGUF</a:t>
            </a:r>
            <a:endParaRPr lang="zh-TW" altLang="zh-TW" dirty="0"/>
          </a:p>
          <a:p>
            <a:r>
              <a:rPr lang="en-US" altLang="zh-TW" u="sng" dirty="0" err="1">
                <a:hlinkClick r:id="rId4"/>
              </a:rPr>
              <a:t>huggingface</a:t>
            </a:r>
            <a:r>
              <a:rPr lang="en-US" altLang="zh-TW" u="sng" dirty="0">
                <a:hlinkClick r:id="rId4"/>
              </a:rPr>
              <a:t> </a:t>
            </a:r>
            <a:r>
              <a:rPr lang="en-US" altLang="zh-TW" u="sng" dirty="0" err="1">
                <a:hlinkClick r:id="rId4"/>
              </a:rPr>
              <a:t>unsloth</a:t>
            </a:r>
            <a:r>
              <a:rPr lang="en-US" altLang="zh-TW" u="sng" dirty="0">
                <a:hlinkClick r:id="rId4"/>
              </a:rPr>
              <a:t>/gemma-4-E2B-it-GGUF MTP</a:t>
            </a:r>
            <a:endParaRPr lang="zh-TW" altLang="zh-TW" dirty="0"/>
          </a:p>
          <a:p>
            <a:r>
              <a:rPr lang="en-US" altLang="zh-TW" dirty="0" err="1">
                <a:hlinkClick r:id="rId5"/>
              </a:rPr>
              <a:t>SearXNG</a:t>
            </a:r>
            <a:r>
              <a:rPr lang="en-US" altLang="zh-TW" dirty="0">
                <a:hlinkClick r:id="rId5"/>
              </a:rPr>
              <a:t> installation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8300669-D3DD-446F-7E72-DE8EC0A72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6B3D2-A88D-4947-AE11-6DEE5A0E6548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7346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659</Words>
  <Application>Microsoft Office PowerPoint</Application>
  <PresentationFormat>寬螢幕</PresentationFormat>
  <Paragraphs>126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Consolas</vt:lpstr>
      <vt:lpstr>Office 佈景主題</vt:lpstr>
      <vt:lpstr>OpenClaw + Gemma 4 (Local on GTX 1050 Ti)</vt:lpstr>
      <vt:lpstr>PowerPoint 簡報</vt:lpstr>
      <vt:lpstr>Architecture</vt:lpstr>
      <vt:lpstr>Device Info</vt:lpstr>
      <vt:lpstr>Preparations - Environment</vt:lpstr>
      <vt:lpstr>Preparations - LLM</vt:lpstr>
      <vt:lpstr>Preparations - SearXNG</vt:lpstr>
      <vt:lpstr>Preparations - Discord</vt:lpstr>
      <vt:lpstr>OpenClaw Setup</vt:lpstr>
      <vt:lpstr>OpenClaw Connect to Discord</vt:lpstr>
      <vt:lpstr>LLM Parameters and Comparison</vt:lpstr>
      <vt:lpstr>Summary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Melody Wang</dc:creator>
  <cp:lastModifiedBy>Melody Wang</cp:lastModifiedBy>
  <cp:revision>20</cp:revision>
  <dcterms:created xsi:type="dcterms:W3CDTF">2026-07-05T08:40:13Z</dcterms:created>
  <dcterms:modified xsi:type="dcterms:W3CDTF">2026-07-05T12:29:26Z</dcterms:modified>
</cp:coreProperties>
</file>